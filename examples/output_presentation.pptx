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2023年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</c:v>
                </c:pt>
                <c:pt idx="1">
                  <c:v>150</c:v>
                </c:pt>
                <c:pt idx="2">
                  <c:v>168</c:v>
                </c:pt>
                <c:pt idx="3">
                  <c:v>185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2024年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150</c:v>
                </c:pt>
                <c:pt idx="1">
                  <c:v>180</c:v>
                </c:pt>
                <c:pt idx="2">
                  <c:v>210</c:v>
                </c:pt>
                <c:pt idx="3">
                  <c:v>240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r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市場份額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亞太地區</c:v>
                </c:pt>
                <c:pt idx="1">
                  <c:v>北美</c:v>
                </c:pt>
                <c:pt idx="2">
                  <c:v>歐洲</c:v>
                </c:pt>
                <c:pt idx="3">
                  <c:v>其他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30</c:v>
                </c:pt>
                <c:pt idx="2">
                  <c:v>20</c:v>
                </c:pt>
                <c:pt idx="3">
                  <c:v>5</c:v>
                </c:pt>
              </c:numCache>
            </c:numRef>
          </c:val>
        </c:ser>
      </c:pieChart>
    </c:plotArea>
    <c:legend>
      <c:legendPos val="tr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0"/>
            <a:ext cx="11277295" cy="1371600"/>
          </a:xfrm>
        </p:spPr>
        <p:txBody>
          <a:bodyPr/>
          <a:lstStyle/>
          <a:p>
            <a:pPr algn="ctr">
              <a:defRPr sz="5400" b="1"/>
            </a:pPr>
            <a:r>
              <a:t>2024 年度業務報告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114800"/>
            <a:ext cx="11277295" cy="914400"/>
          </a:xfrm>
        </p:spPr>
        <p:txBody>
          <a:bodyPr/>
          <a:lstStyle/>
          <a:p>
            <a:pPr algn="ctr">
              <a:defRPr sz="3200"/>
            </a:pPr>
            <a:r>
              <a:t>成果展示與未來展望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/>
            </a:pPr>
            <a:r>
              <a:t>執行摘要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800"/>
              </a:spcAft>
              <a:defRPr sz="2400"/>
            </a:pPr>
            <a:r>
              <a:t>本年度業績表現優異,營收成長達 25%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2400"/>
            </a:pPr>
            <a:r>
              <a:t>成功拓展三個新市場區域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2400"/>
            </a:pPr>
            <a:r>
              <a:t>產品創新獲得業界肯定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2400"/>
            </a:pPr>
            <a:r>
              <a:t>客戶滿意度提升至 95%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/>
            </a:pPr>
            <a:r>
              <a:t>優勢與挑戰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/>
            </a:pPr>
            <a:r>
              <a:t>優勢:</a:t>
            </a:r>
            <a:br/>
            <a:r>
              <a:t>• 強大的研發團隊</a:t>
            </a:r>
            <a:br/>
            <a:r>
              <a:t>• 完善的供應鏈</a:t>
            </a:r>
            <a:br/>
            <a:r>
              <a:t>• 優質的客戶基礎</a:t>
            </a:r>
            <a:br/>
            <a:r>
              <a:t>• 創新的產品線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8095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/>
            </a:pPr>
            <a:r>
              <a:t>挑戰:</a:t>
            </a:r>
            <a:br/>
            <a:r>
              <a:t>• 市場競爭加劇</a:t>
            </a:r>
            <a:br/>
            <a:r>
              <a:t>• 原材料成本上升</a:t>
            </a:r>
            <a:br/>
            <a:r>
              <a:t>• 人才招募困難</a:t>
            </a:r>
            <a:br/>
            <a:r>
              <a:t>• 國際市場波動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/>
            </a:pPr>
            <a:r>
              <a:t>季度財務表現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9132" y="1371600"/>
          <a:ext cx="1071343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357"/>
                <a:gridCol w="2678357"/>
                <a:gridCol w="2678357"/>
                <a:gridCol w="2678359"/>
              </a:tblGrid>
              <a:tr h="905256">
                <a:tc>
                  <a:txBody>
                    <a:bodyPr/>
                    <a:lstStyle/>
                    <a:p>
                      <a:pPr algn="ctr">
                        <a:defRPr b="1" sz="2000">
                          <a:solidFill>
                            <a:srgbClr val="FFFFFF"/>
                          </a:solidFill>
                        </a:defRPr>
                      </a:pPr>
                      <a:r>
                        <a:t>季度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2000">
                          <a:solidFill>
                            <a:srgbClr val="FFFFFF"/>
                          </a:solidFill>
                        </a:defRPr>
                      </a:pPr>
                      <a:r>
                        <a:t>營收(百萬)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2000">
                          <a:solidFill>
                            <a:srgbClr val="FFFFFF"/>
                          </a:solidFill>
                        </a:defRPr>
                      </a:pPr>
                      <a:r>
                        <a:t>利潤(百萬)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2000">
                          <a:solidFill>
                            <a:srgbClr val="FFFFFF"/>
                          </a:solidFill>
                        </a:defRPr>
                      </a:pPr>
                      <a:r>
                        <a:t>成長率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Q1 2024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Q2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20%</a:t>
                      </a:r>
                    </a:p>
                  </a:txBody>
                  <a:tcPr/>
                </a:tc>
              </a:tr>
              <a:tr h="90525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Q3 2024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210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Q4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30%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/>
            </a:pPr>
            <a:r>
              <a:t>年度營收趨勢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021064" y="1371600"/>
          <a:ext cx="10149565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/>
            </a:pPr>
            <a:r>
              <a:t>市場份額分布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021064" y="1371600"/>
          <a:ext cx="10149565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/>
            </a:pPr>
            <a:r>
              <a:t>產品展示</a:t>
            </a:r>
          </a:p>
        </p:txBody>
      </p:sp>
      <p:pic>
        <p:nvPicPr>
          <p:cNvPr id="3" name="Picture 2" descr="sample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29" y="1554480"/>
            <a:ext cx="9021836" cy="67663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/>
            </a:pPr>
            <a:r>
              <a:t>我們的旗艦產品系列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/>
            </a:pPr>
            <a:r>
              <a:t>未來展望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/>
            </a:pPr>
            <a:r>
              <a:t>展望 2025 年,我們將持續投資研發創新,深化市場布局,強化客戶關係,預期營收成長將達到 30% 以上。我們有信心在激烈的市場競爭中保持領先地位,為股東創造更大價值。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